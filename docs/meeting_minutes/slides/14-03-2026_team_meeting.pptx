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69" r:id="rId4"/>
    <p:sldId id="270" r:id="rId5"/>
    <p:sldId id="271" r:id="rId6"/>
    <p:sldId id="273" r:id="rId7"/>
    <p:sldId id="274" r:id="rId8"/>
    <p:sldId id="267" r:id="rId9"/>
    <p:sldId id="283" r:id="rId10"/>
    <p:sldId id="258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63759-6664-4629-8880-4DF5D749F018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9ED54-44F6-43EE-ABE0-32ED47A05E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48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9ED54-44F6-43EE-ABE0-32ED47A05E9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93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557B5-023A-7464-7C63-1A2F8CB7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D9DBF-850F-D6F0-B6BF-54E72D0C6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E06DC-F6B6-AD27-E303-9D6046084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4B775-61EE-EB55-92E4-E277E7122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9ED54-44F6-43EE-ABE0-32ED47A05E9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88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D91A-70BD-52D1-8E5D-128B0203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6CC91-0A5D-9850-C6CF-F79A021BB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DD7E9-85A9-D4FA-671A-B899453CF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52687-0514-028E-99DA-C469980CD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9ED54-44F6-43EE-ABE0-32ED47A05E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351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9ED54-44F6-43EE-ABE0-32ED47A05E9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77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C7B3-8C40-B18E-9C5A-372BED0BB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61B5C-EEF9-EF9B-9AD0-E11874C42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ACAC7-870B-1820-67A6-AFE43E77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4CD73-F23C-8018-3BEF-F4F0F39F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22624-762B-9B9F-B544-2F98D2C5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618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DD01-0941-55E2-470E-600DBEA6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2BEF-FE07-4802-956A-2D6D814B0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8B87-1403-CE5A-7248-352014680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A045A-EC0F-2335-85C6-CE473953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CD6B4-C3B6-8077-F993-BDC09550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3976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2B9E-DB12-10E6-76A0-EED1D506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3349-D81B-1179-B0B5-8D72E83DA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2350F-BB4B-E597-225D-544A77D9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C1475-5B9A-7291-FB3C-F8945E9C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96C94-03EE-E6A3-93D0-3F9EA156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69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1AC0-63F5-FAAE-EDA0-96815535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73EF-7897-7337-4304-1C52E90BB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F6AC-E4D5-AAF3-7063-E0FDAA36D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C0193-B159-C42A-D11C-2C320868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02412-7C0C-8EF9-D30C-F23BE7A89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0C196-69F2-BA95-5ABC-9D75EA44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93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0C88-36EA-DA6E-04D5-1A035E21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727B1-B915-B8EC-3FBF-E483FD5FB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25805-A917-840B-E95E-FB6FC94F3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B18DD-042F-CC13-3BE4-F6967AAE3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E9763-4FD7-AF4F-DF8A-5BC254598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35A4F-086D-B7F1-DF61-4C178D8F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16096-9313-99AC-2522-EDA22307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DD94B-547C-273C-5DB7-59CAA8D7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70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6B5D-0F8C-E0D1-2E28-C3B3F73C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1062B-CE98-9F87-E600-0FDD6A684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B17B5-67DC-3EBD-EA93-F697179E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62446-AA12-796D-C2BF-BFDDEEA6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1961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F4CA5-DAE5-02D1-B813-F46D2327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C8668-DCC1-E817-A59A-2CA4E989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DE87C-5C69-18D4-520D-D69967F0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8266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CC79-395E-2FD4-7BCF-FBD447B29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74D8F-9918-605F-EE3C-EE4A39A25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73AF3-3147-08E0-3F41-2F2B9D032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89E16-6E28-84D2-D6D5-1133D2CD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36B3C-0025-9554-AB2B-6A65463A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392E2-B015-797F-0AD9-BFAEFA6A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316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CBF2-41B3-334C-C02B-4ADFC3EB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30697-A5B2-E07C-A2B4-DF9E6CC97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46E87-C444-7F6C-31C0-302DEAD67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88552-152C-D750-98F4-875B6EE6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DF2C5-0153-8CAA-A6E5-8CC0D987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685F5-00B5-88C4-F969-A6203B66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937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33C8-13DD-A19F-3DD8-13E88CE71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D48CD-D7BA-D9A8-A904-CB6701610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A5E9D-C2A5-8CB9-E725-A310493A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A1A67-B5A7-0026-7F6B-A7864D64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1A6FC-1E66-A50A-7221-DE17C975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27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F6A52-AA37-DE99-9F8B-3CE8DFADF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5C8D8-3E18-7700-7FEB-4CDC37AB2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3B029-85E0-2AAC-08CF-9B0A4A14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B0A12-493C-CB6E-0A15-DBBAC418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6A01E-B6DD-3F9C-9E29-AEFD8ECD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207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1603-7DAE-6582-E1C6-8A5B83084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78FD2-54C2-10F1-0130-17CA4C205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69FC2-0A3F-36F7-3FB6-04BC3793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5C3B-9592-BC84-1E0F-1B7A9A93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B9DEB-5EBF-53F1-2078-30745EDB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167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43A2-F81A-9620-91F9-06E20384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3F8A7-5A6B-08B2-82ED-31EF32770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5E01A-6E69-9F62-D512-4C33E79C1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6EFBB-AA0E-F91A-9B9A-0A1D50F8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F5C8-A58E-7ACD-CCC4-21D42F8A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3903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87D1-08CC-12D5-D0CB-98238CED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FE7B2-F357-33B6-68AC-77E4EA7B7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172EE-4959-AF3B-ADE2-739D39BE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F2E0E-A2AC-24EF-848A-16A31194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CBBEB-4002-55F8-6618-C261BCAB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6772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AD1C-DDB6-6058-0702-E6C54803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EBE5-3871-799A-C681-0562C2D0C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7243A-2C96-A1B4-E2AB-7C8C41508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9A548-3852-3B19-7D87-6E057C31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D0FF9-EACD-B757-9010-0E3E6076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CE8EA-5294-A3CB-812C-0E17FADA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7556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5238-BE2A-E55B-25F7-FC578DFE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9673A-FC85-20C5-1341-BEF5FD2AA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0D56D-2E12-87E2-7D60-3B0AD5B28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1CA9A-813A-CC1B-B4D7-C0E9BCE87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BE1C6-5A6E-3E41-4E40-0419D6F34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74B4D-7D94-DADD-8AD5-949AA65B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D735F-E89C-D43C-BECF-510B1448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BE36C-428E-5DE3-9E66-1E744CB7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948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7186-98B7-BF67-0ED4-758FBAB0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95AD6-02F9-61ED-015B-0A39C1C9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07301-B420-7472-BCA4-C3A3A036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6AFC6-8C2D-7FFB-F4BE-E920B6D5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6507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E86F5-D269-3896-D7A1-D5F06BBF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52813-0CAF-8F43-D8F8-004E0F898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E935E-A109-C8AC-7248-8E5FA7CC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02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529D-A1A1-6D94-1EEE-86C66C81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053AC-FB65-0309-9BAC-0FBD34A5D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BAEC3-FED2-0B08-BA66-B65155091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B99E6-E32A-C021-108E-9A539B80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ED387-8C9B-6DA3-4A3A-7AE3790F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8615C-92C6-DA40-69D3-B88BD59E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7313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2C4D-233C-2F7D-ADD8-6C6CB782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A580F4-C85D-3012-843C-B025F027C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2E834-E065-FDF9-1712-3B99C3185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2A999-67CD-CA82-760F-BF61401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35CA5-EA2B-2B0A-899C-E49FB14C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AE125-8339-83A4-6B4B-95D67311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26480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C978-D577-6FBC-60CE-4E27D28C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6BB5A-29B7-D429-127F-D83B3F00A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24DB6-1FB4-512D-385B-D2FFC3B9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5FBAF-9C27-6EEE-35F6-2F7079E7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ACD5-F8D9-1A81-238F-44FF0508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5568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DF2FC-957A-32DD-6E20-1EB990BCC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EDE60-8D23-62D5-36E3-87F495A1F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1715F-9DC9-CB70-4D4E-68855CB85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B899C-885B-703D-1920-E11E0391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9CA04-A604-227B-2484-F599497A7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90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5FE64-C508-791C-41AE-1986D9D2D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6F3CB-0C1A-7A09-ACDD-B08E554AF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CB4C2-AC5B-E709-03E4-D9A7EE60B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FC77A-01EC-462A-AC4E-1BB0D2E6DDCD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DBB3-0D5F-F5DE-418C-35CD067BF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5A265-FE26-50FE-C850-122F57DC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7A465-73A6-49DA-A468-C00C4E4AE90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825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2A6D1-309B-1A14-944A-EBD43B83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16E81-B4D3-6289-5190-20F609F47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53224-E30C-79D9-AD91-A88010E51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9D202-9E0D-4057-8DEC-0F1E696B80B3}" type="datetimeFigureOut">
              <a:rPr lang="en-AU" smtClean="0"/>
              <a:t>14/03/2026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ADABF-FC7C-B9D6-AEE9-661085E6A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713D8-717B-4992-E533-B72D17AF5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31A9C-6F9D-4F57-AACF-8C6124E409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908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eojson.io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0/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ca.wa.gov.au/management/fire/prescribed-burning/burn-options-program" TargetMode="External"/><Relationship Id="rId7" Type="http://schemas.openxmlformats.org/officeDocument/2006/relationships/hyperlink" Target="https://www.wa.gov.au/service/science/biological-sciences/access-interactive-maps-showing-western-australias-biodiversity" TargetMode="External"/><Relationship Id="rId2" Type="http://schemas.openxmlformats.org/officeDocument/2006/relationships/hyperlink" Target="https://catalogue.data.wa.gov.au/dataset/dbca-fuel-age-sw-forest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catalogue.data.wa.gov.au/dataset/?tags=vegetation" TargetMode="External"/><Relationship Id="rId5" Type="http://schemas.openxmlformats.org/officeDocument/2006/relationships/hyperlink" Target="https://myfirewatch.landgate.wa.gov.au/" TargetMode="External"/><Relationship Id="rId4" Type="http://schemas.openxmlformats.org/officeDocument/2006/relationships/hyperlink" Target="https://www.wa.gov.au/organisation/department-of-mines-petroleum-and-exploration/geological-survey-of-western-australia/state-maps-and-statewide-datas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40490657" descr="Picture 300100021, Picture, Picture, Picture">
            <a:extLst>
              <a:ext uri="{FF2B5EF4-FFF2-40B4-BE49-F238E27FC236}">
                <a16:creationId xmlns:a16="http://schemas.microsoft.com/office/drawing/2014/main" id="{09CE9ED9-DBBB-F00F-B2A4-77440CCD9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362" y="1105628"/>
            <a:ext cx="1819275" cy="1819275"/>
          </a:xfrm>
          <a:prstGeom prst="rect">
            <a:avLst/>
          </a:prstGeom>
        </p:spPr>
      </p:pic>
      <p:sp>
        <p:nvSpPr>
          <p:cNvPr id="5" name="文本框 2">
            <a:extLst>
              <a:ext uri="{FF2B5EF4-FFF2-40B4-BE49-F238E27FC236}">
                <a16:creationId xmlns:a16="http://schemas.microsoft.com/office/drawing/2014/main" id="{64BF3B80-8B51-BD83-1D3B-DC7164F2287D}"/>
              </a:ext>
            </a:extLst>
          </p:cNvPr>
          <p:cNvSpPr txBox="1"/>
          <p:nvPr/>
        </p:nvSpPr>
        <p:spPr>
          <a:xfrm>
            <a:off x="3305011" y="3319976"/>
            <a:ext cx="558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CITS5206 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Capstone Project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05C1F9DB-441F-9D45-81E8-12E2D5212FB8}"/>
              </a:ext>
            </a:extLst>
          </p:cNvPr>
          <p:cNvSpPr txBox="1"/>
          <p:nvPr/>
        </p:nvSpPr>
        <p:spPr>
          <a:xfrm>
            <a:off x="3305011" y="3784382"/>
            <a:ext cx="558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Fire Vulnerability App for Cultural Heritage Sites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0D2A684A-B90E-AA91-55B1-6F7DA77EC96C}"/>
              </a:ext>
            </a:extLst>
          </p:cNvPr>
          <p:cNvSpPr txBox="1"/>
          <p:nvPr/>
        </p:nvSpPr>
        <p:spPr>
          <a:xfrm>
            <a:off x="4822312" y="4525787"/>
            <a:ext cx="2547364" cy="13140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Group: Group 21</a:t>
            </a:r>
          </a:p>
          <a:p>
            <a:pPr marL="0" marR="0" lvl="0" indent="0" algn="ctr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AU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Assoc. Sven Ouzman</a:t>
            </a:r>
            <a:b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By Cloud Wang</a:t>
            </a:r>
            <a:br>
              <a:rPr kumimoji="0" lang="en-AU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kumimoji="0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17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276B-2511-8CE7-CB4B-303ACDD2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945AF328-85E8-3490-C2BB-3E6373A41D5F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 to Discuss Today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80CCC-14B0-9397-FBC0-9D11BDB79F6B}"/>
              </a:ext>
            </a:extLst>
          </p:cNvPr>
          <p:cNvSpPr txBox="1"/>
          <p:nvPr/>
        </p:nvSpPr>
        <p:spPr>
          <a:xfrm>
            <a:off x="434762" y="1021517"/>
            <a:ext cx="113000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Exploration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D1: Project Spec and Plans Group Submission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Mon 23 Mar, 11:59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Meeting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Resources</a:t>
            </a:r>
          </a:p>
        </p:txBody>
      </p:sp>
    </p:spTree>
    <p:extLst>
      <p:ext uri="{BB962C8B-B14F-4D97-AF65-F5344CB8AC3E}">
        <p14:creationId xmlns:p14="http://schemas.microsoft.com/office/powerpoint/2010/main" val="81239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5AD1-0F8D-B163-809F-8D8B56BD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48C1D762-2BC2-05F0-548D-C638EA6B928F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A06A6-CE99-A462-A067-3D1F03AE7A2B}"/>
              </a:ext>
            </a:extLst>
          </p:cNvPr>
          <p:cNvSpPr txBox="1"/>
          <p:nvPr/>
        </p:nvSpPr>
        <p:spPr>
          <a:xfrm>
            <a:off x="434762" y="1021517"/>
            <a:ext cx="113000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GIS-based application that predicts the likely locations of cultural heritage sites and their vulnerability to bushfires and visualizes this information on a map to support fire management and help prevent damage to heritage sites.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needed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databases like ACHIS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InHerit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 some heritage sites, many sites are still not mapped. Fire managers currently lack a tool to predict site locations and assess fire risk. Wildfires may cause serious damage to these sites.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52E0A-9A95-BB39-5EA6-C87046D85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605" y="3398612"/>
            <a:ext cx="5912789" cy="310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9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76B2-1E32-F211-C6DF-46BA174B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77BE427E-9787-2EB0-0B15-E3CAB31E085D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0F3E4-4C20-974D-92C9-6803F754C5C2}"/>
              </a:ext>
            </a:extLst>
          </p:cNvPr>
          <p:cNvSpPr txBox="1"/>
          <p:nvPr/>
        </p:nvSpPr>
        <p:spPr>
          <a:xfrm>
            <a:off x="434762" y="1021517"/>
            <a:ext cx="11300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Issues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sites are fragile (scar trees, material vulnerable to fire, certain types of stone which can be damaged by the heat, the radiant heat that comes off a fire, especially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granite outcrops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We Scar Many Trees - Great Victorian Rail Trail">
            <a:extLst>
              <a:ext uri="{FF2B5EF4-FFF2-40B4-BE49-F238E27FC236}">
                <a16:creationId xmlns:a16="http://schemas.microsoft.com/office/drawing/2014/main" id="{890F2041-73E6-4FE6-0D7A-893E2970E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213" y="2013618"/>
            <a:ext cx="28194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8C86F-E816-B848-9CD7-FAA049BBEF96}"/>
              </a:ext>
            </a:extLst>
          </p:cNvPr>
          <p:cNvSpPr txBox="1"/>
          <p:nvPr/>
        </p:nvSpPr>
        <p:spPr>
          <a:xfrm>
            <a:off x="2067386" y="6242718"/>
            <a:ext cx="116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 trees</a:t>
            </a:r>
          </a:p>
        </p:txBody>
      </p:sp>
      <p:pic>
        <p:nvPicPr>
          <p:cNvPr id="1030" name="Picture 6" descr="Rock Art - The Ranges Karratha">
            <a:extLst>
              <a:ext uri="{FF2B5EF4-FFF2-40B4-BE49-F238E27FC236}">
                <a16:creationId xmlns:a16="http://schemas.microsoft.com/office/drawing/2014/main" id="{ABD1D90F-8042-0962-5190-46C616EA2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537" y="2013618"/>
            <a:ext cx="63436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3ADF6B-A5A5-E2C8-F269-082B901AF66C}"/>
              </a:ext>
            </a:extLst>
          </p:cNvPr>
          <p:cNvSpPr txBox="1"/>
          <p:nvPr/>
        </p:nvSpPr>
        <p:spPr>
          <a:xfrm>
            <a:off x="7020297" y="6247526"/>
            <a:ext cx="1688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granite outcrops</a:t>
            </a:r>
          </a:p>
        </p:txBody>
      </p:sp>
    </p:spTree>
    <p:extLst>
      <p:ext uri="{BB962C8B-B14F-4D97-AF65-F5344CB8AC3E}">
        <p14:creationId xmlns:p14="http://schemas.microsoft.com/office/powerpoint/2010/main" val="214609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6BA7-530C-84EF-3912-7855677AD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B1EF9594-1E6A-77D1-729B-0C86A77E1FC1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65B68-A766-468D-4370-55DBDD928160}"/>
              </a:ext>
            </a:extLst>
          </p:cNvPr>
          <p:cNvSpPr txBox="1"/>
          <p:nvPr/>
        </p:nvSpPr>
        <p:spPr>
          <a:xfrm>
            <a:off x="434762" y="1021517"/>
            <a:ext cx="113000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Factors</a:t>
            </a:r>
            <a:r>
              <a:rPr lang="en-A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Topography: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Slope: Fire spreads faster uphill than downhill, and steeper slopes increase fire intensity and spread.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Elevation (high or low areas): Sites at higher elevations are more vulnerable to fire.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Vegetation position: Anything that is within 100 metres of the edge of vegetation that can burn is at risk. </a:t>
            </a:r>
          </a:p>
          <a:p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Geology:</a:t>
            </a:r>
          </a:p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Granite outcrops: Granite areas are important indicators when predicting potential site locations.</a:t>
            </a:r>
            <a:endParaRPr lang="en-A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load: </a:t>
            </a:r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downhill often have heavier fuel loads, which can cause fires to burn faster and more intensely.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Vegetation age: The older the vegetation is, the worse it’s likely to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Water: Rivers and lakes can slow down fires or change the direction they spread.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(We need to model it, this is just an example)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1 - For things that are on flat ground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2 - Sites on slopes of around 10° with vegetation within 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3 – Sites on steeper slopes with heavier fuel loads</a:t>
            </a:r>
          </a:p>
        </p:txBody>
      </p:sp>
    </p:spTree>
    <p:extLst>
      <p:ext uri="{BB962C8B-B14F-4D97-AF65-F5344CB8AC3E}">
        <p14:creationId xmlns:p14="http://schemas.microsoft.com/office/powerpoint/2010/main" val="291264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5C123-2514-174E-6FDC-F43F2E04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3732F650-7067-4C80-2369-9D1947A88FE9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16E915-EDE7-D5D9-76BF-539F60D3C6BA}"/>
              </a:ext>
            </a:extLst>
          </p:cNvPr>
          <p:cNvSpPr txBox="1"/>
          <p:nvPr/>
        </p:nvSpPr>
        <p:spPr>
          <a:xfrm>
            <a:off x="434762" y="1021517"/>
            <a:ext cx="1130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Selection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Need agreement from Aboriginal people.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235E8B-FADF-4CF1-B23E-5F173D656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854" y="1462807"/>
            <a:ext cx="7186291" cy="539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F4E6E-21BC-530B-9AE1-AB822358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E8F6DED2-2B02-8273-57C1-EEBC0F82F8B2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626CA-6358-8215-9265-F37316F167C5}"/>
              </a:ext>
            </a:extLst>
          </p:cNvPr>
          <p:cNvSpPr txBox="1"/>
          <p:nvPr/>
        </p:nvSpPr>
        <p:spPr>
          <a:xfrm>
            <a:off x="434762" y="1021517"/>
            <a:ext cx="11300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Selection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DBCA Burn Options Program Map: Shows areas where prescribed burns are planned. This is a good starting point for the project. We could select one burn area and assess the fire risk within it. The selected area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contain granite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FB8E1-2879-7B84-C403-F4BD6ED89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1944847"/>
            <a:ext cx="6300216" cy="4725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73A3F8-AA76-8603-2D3D-B111AC110919}"/>
              </a:ext>
            </a:extLst>
          </p:cNvPr>
          <p:cNvSpPr txBox="1"/>
          <p:nvPr/>
        </p:nvSpPr>
        <p:spPr>
          <a:xfrm>
            <a:off x="8396138" y="1944847"/>
            <a:ext cx="25858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FRK stands for Franklin, ALB stands for Albany</a:t>
            </a:r>
            <a:endParaRPr lang="nn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selected by Sean:</a:t>
            </a:r>
            <a:b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nn-N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FRK-114</a:t>
            </a: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FRK-113</a:t>
            </a: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FRK-115</a:t>
            </a: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FRK-116</a:t>
            </a: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FRK-108</a:t>
            </a: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FRK-094</a:t>
            </a: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ALB-042</a:t>
            </a: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ALB-071</a:t>
            </a:r>
          </a:p>
          <a:p>
            <a: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ALB-081</a:t>
            </a:r>
          </a:p>
        </p:txBody>
      </p:sp>
    </p:spTree>
    <p:extLst>
      <p:ext uri="{BB962C8B-B14F-4D97-AF65-F5344CB8AC3E}">
        <p14:creationId xmlns:p14="http://schemas.microsoft.com/office/powerpoint/2010/main" val="3126281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C348-D83E-716C-11D6-D561B01F6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20EE5571-9C4E-A096-23CF-C188C496D207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Background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41D9956-D1D8-2964-C1DC-1D3782FD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30" y="1840538"/>
            <a:ext cx="9114339" cy="4871879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D9A43FEC-1348-D05D-9AA3-B7A853D9061B}"/>
              </a:ext>
            </a:extLst>
          </p:cNvPr>
          <p:cNvSpPr txBox="1"/>
          <p:nvPr/>
        </p:nvSpPr>
        <p:spPr>
          <a:xfrm>
            <a:off x="434762" y="1021517"/>
            <a:ext cx="11300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could identify granite sites in those areas and load them into our map application. Then we can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surroundings, such as whether they are on a slope or near vegetation, to assess their potential fire risk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96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E9CFA-6F63-1632-4777-7F5D0BA3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A62FC38E-556B-2CEF-FFAA-A30AA4B9D6FA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Exploration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C15B74-8831-C249-57E2-3B5955913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13" y="1565834"/>
            <a:ext cx="9987974" cy="4714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A67CF5-1C09-ABF9-3A8D-FC3D15074A18}"/>
              </a:ext>
            </a:extLst>
          </p:cNvPr>
          <p:cNvSpPr txBox="1"/>
          <p:nvPr/>
        </p:nvSpPr>
        <p:spPr>
          <a:xfrm>
            <a:off x="434762" y="1021517"/>
            <a:ext cx="1130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region in ACHIS</a:t>
            </a:r>
          </a:p>
        </p:txBody>
      </p:sp>
    </p:spTree>
    <p:extLst>
      <p:ext uri="{BB962C8B-B14F-4D97-AF65-F5344CB8AC3E}">
        <p14:creationId xmlns:p14="http://schemas.microsoft.com/office/powerpoint/2010/main" val="154240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A8E6-581F-F51E-572A-D7F34B6E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AB360A09-9581-F4DC-290B-F243DEC45AE5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Exploration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CBBBF3-4570-EC72-2F4B-EEA5D1754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6619"/>
            <a:ext cx="12192000" cy="46765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9E3166-2F31-BC87-A7D3-86B2588B3C33}"/>
              </a:ext>
            </a:extLst>
          </p:cNvPr>
          <p:cNvSpPr txBox="1"/>
          <p:nvPr/>
        </p:nvSpPr>
        <p:spPr>
          <a:xfrm>
            <a:off x="434762" y="1021517"/>
            <a:ext cx="1130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the data as a CSV file</a:t>
            </a:r>
          </a:p>
        </p:txBody>
      </p:sp>
    </p:spTree>
    <p:extLst>
      <p:ext uri="{BB962C8B-B14F-4D97-AF65-F5344CB8AC3E}">
        <p14:creationId xmlns:p14="http://schemas.microsoft.com/office/powerpoint/2010/main" val="228050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EECEC-7FED-B924-153D-65C888C2F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F94643F2-9FFE-06F3-C480-07465D742A2F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Exploration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6">
            <a:extLst>
              <a:ext uri="{FF2B5EF4-FFF2-40B4-BE49-F238E27FC236}">
                <a16:creationId xmlns:a16="http://schemas.microsoft.com/office/drawing/2014/main" id="{BE17CE42-87CA-143D-F8A5-354BD832C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08" y="1555441"/>
            <a:ext cx="9121783" cy="49550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46A3CB-B116-2AFB-E1E0-0CE328194362}"/>
              </a:ext>
            </a:extLst>
          </p:cNvPr>
          <p:cNvSpPr txBox="1"/>
          <p:nvPr/>
        </p:nvSpPr>
        <p:spPr>
          <a:xfrm>
            <a:off x="434762" y="1021517"/>
            <a:ext cx="1130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the data into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https://geojson.io/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546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C4EF-F746-AB48-163B-9A7BCCFE9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623D50DA-0C9F-538A-556E-F4471854AC2B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Exploration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B0163-DA94-B0B8-B553-0AE9ADE0CC50}"/>
              </a:ext>
            </a:extLst>
          </p:cNvPr>
          <p:cNvSpPr txBox="1"/>
          <p:nvPr/>
        </p:nvSpPr>
        <p:spPr>
          <a:xfrm>
            <a:off x="434762" y="1021517"/>
            <a:ext cx="113235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 into our app.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Tools:</a:t>
            </a:r>
          </a:p>
          <a:p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Leaflet: JavaScript library for interactive maps (Free &amp; open-source)</a:t>
            </a:r>
          </a:p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Mapbox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Map platform + library (Freemium / paid services)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OpenStreetMap: Free open-source map data.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demo build with Leaflet and OpenStreetMap.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http://localhost:8000/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32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0441-D31D-B9CB-05A3-3C370917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1BFD57CF-062B-816D-D350-3870F07F1561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Exploration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35485-8762-D0BE-44A7-ADF46B5A4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10" y="1390849"/>
            <a:ext cx="7444779" cy="33087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9B41D4-230A-F737-3FA1-E6E2E89C8DBC}"/>
              </a:ext>
            </a:extLst>
          </p:cNvPr>
          <p:cNvSpPr txBox="1"/>
          <p:nvPr/>
        </p:nvSpPr>
        <p:spPr>
          <a:xfrm>
            <a:off x="434762" y="1021517"/>
            <a:ext cx="1132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workflow: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E6F50-C0DA-79FA-B7A6-27FE3C545415}"/>
              </a:ext>
            </a:extLst>
          </p:cNvPr>
          <p:cNvSpPr txBox="1"/>
          <p:nvPr/>
        </p:nvSpPr>
        <p:spPr>
          <a:xfrm>
            <a:off x="434762" y="4769872"/>
            <a:ext cx="113235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front-end with GIS data processing. (Optional) We may need a database to store user data if we implement a user upload function.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 tools: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TypeScript / JavaScript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Leaflet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Mapbox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140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46C85-FBBC-2C6A-DA27-B47B06E3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ECBFEE13-2F83-4E90-E8DA-B09EF9B66694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Allocation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5BC60-3292-3C88-EE05-BDE7231FEDBC}"/>
              </a:ext>
            </a:extLst>
          </p:cNvPr>
          <p:cNvSpPr txBox="1"/>
          <p:nvPr/>
        </p:nvSpPr>
        <p:spPr>
          <a:xfrm>
            <a:off x="434762" y="1021517"/>
            <a:ext cx="113235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Rotate the Project Manager role (LMS: at least 3 people should be PM over the course of the project)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meetings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progress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 the team of deadlines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weekly professionalism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meeting notes, summarize discussions, and write meeting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our roles in the weekly team accountability document.</a:t>
            </a:r>
          </a:p>
        </p:txBody>
      </p:sp>
    </p:spTree>
    <p:extLst>
      <p:ext uri="{BB962C8B-B14F-4D97-AF65-F5344CB8AC3E}">
        <p14:creationId xmlns:p14="http://schemas.microsoft.com/office/powerpoint/2010/main" val="2627050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836E-4A33-343B-94AC-9D323CB4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5363762E-BB84-C1CA-3A09-C1921C2D7B37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 Project Spec and Plans </a:t>
            </a:r>
            <a:endParaRPr lang="en-AU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9704D-32C7-2677-9FC7-EB5E5AF48ACA}"/>
              </a:ext>
            </a:extLst>
          </p:cNvPr>
          <p:cNvSpPr txBox="1"/>
          <p:nvPr/>
        </p:nvSpPr>
        <p:spPr>
          <a:xfrm>
            <a:off x="434762" y="1021517"/>
            <a:ext cx="1132356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what are you going to build and why?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1.1 Current Problem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1.2 Current Solution and Limitations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Client communication and MVP agreement. ( presentation has been given to facilitator and client and feedback)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2.1 Client communication details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2.2 Minimum Viable Product (MVP)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Project planning and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3.1 Project &amp; Workflow Management Methodology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3.2 Timeline and Milestones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3.3 Roles and Responsibilities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3.4 Collaboration Tools and Practices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Risk and technology assessments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4.1 Group Skills Audit Survey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4.2 Technical Risks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4.3 Operation Risks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4.4 Technology Assessment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better to complete this two days before the deadline so we have time to adjust.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454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2DC0-1999-47D5-05DF-489A3DC4E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01CB30AA-72A6-58B9-7D8E-7D1D2D038CEE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Meeting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5C98F-DA45-58DE-F9BD-182995E99755}"/>
              </a:ext>
            </a:extLst>
          </p:cNvPr>
          <p:cNvSpPr txBox="1"/>
          <p:nvPr/>
        </p:nvSpPr>
        <p:spPr>
          <a:xfrm>
            <a:off x="434762" y="1021517"/>
            <a:ext cx="11323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everyone attends and arrives on time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everyone one the same page after the meeting</a:t>
            </a:r>
          </a:p>
        </p:txBody>
      </p:sp>
    </p:spTree>
    <p:extLst>
      <p:ext uri="{BB962C8B-B14F-4D97-AF65-F5344CB8AC3E}">
        <p14:creationId xmlns:p14="http://schemas.microsoft.com/office/powerpoint/2010/main" val="2790367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3068-35B8-F183-17D9-110E6C29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>
            <a:extLst>
              <a:ext uri="{FF2B5EF4-FFF2-40B4-BE49-F238E27FC236}">
                <a16:creationId xmlns:a16="http://schemas.microsoft.com/office/drawing/2014/main" id="{62D764C0-84FE-EE0B-8D32-E9E1C3805492}"/>
              </a:ext>
            </a:extLst>
          </p:cNvPr>
          <p:cNvSpPr/>
          <p:nvPr/>
        </p:nvSpPr>
        <p:spPr>
          <a:xfrm>
            <a:off x="0" y="-6178"/>
            <a:ext cx="12192000" cy="681925"/>
          </a:xfrm>
          <a:prstGeom prst="rect">
            <a:avLst/>
          </a:prstGeom>
          <a:solidFill>
            <a:srgbClr val="00B0F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060F1-B2DF-3375-B504-BF0EB81C533A}"/>
              </a:ext>
            </a:extLst>
          </p:cNvPr>
          <p:cNvSpPr txBox="1"/>
          <p:nvPr/>
        </p:nvSpPr>
        <p:spPr>
          <a:xfrm>
            <a:off x="434762" y="1021517"/>
            <a:ext cx="113235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AU" altLang="zh-CN" b="1" u="sng" dirty="0">
                <a:hlinkClick r:id="rId2"/>
              </a:rPr>
              <a:t>DBCA Fuel Age: SW Forest (DBCA-005)</a:t>
            </a:r>
            <a:endParaRPr lang="en-AU" altLang="zh-CN" b="1" u="sng" dirty="0"/>
          </a:p>
          <a:p>
            <a:pPr algn="just"/>
            <a:endParaRPr lang="en-AU" altLang="zh-C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altLang="zh-CN" b="1" dirty="0"/>
              <a:t>Related Papers and websites</a:t>
            </a:r>
            <a:r>
              <a:rPr lang="en-AU" altLang="zh-CN" dirty="0"/>
              <a:t>:</a:t>
            </a:r>
            <a:endParaRPr lang="zh-CN" altLang="zh-CN" dirty="0"/>
          </a:p>
          <a:p>
            <a:pPr lvl="0"/>
            <a:r>
              <a:rPr lang="en-AU" altLang="zh-CN" u="sng" dirty="0">
                <a:hlinkClick r:id="rId3"/>
              </a:rPr>
              <a:t>https://www.dbca.wa.gov.au/management/fire/prescribed-burning/burn-options-program</a:t>
            </a:r>
            <a:endParaRPr lang="zh-CN" altLang="zh-CN" dirty="0"/>
          </a:p>
          <a:p>
            <a:pPr lvl="0"/>
            <a:r>
              <a:rPr lang="en-AU" altLang="zh-CN" u="sng" dirty="0">
                <a:hlinkClick r:id="rId4"/>
              </a:rPr>
              <a:t>https://www.wa.gov.au/organisation/department-of-mines-petroleum-and-exploration/geological-survey-of-western-australia/state-maps-and-statewide-datasets</a:t>
            </a:r>
            <a:endParaRPr lang="zh-CN" altLang="zh-CN" dirty="0"/>
          </a:p>
          <a:p>
            <a:pPr lvl="0"/>
            <a:r>
              <a:rPr lang="en-AU" altLang="zh-CN" u="sng" dirty="0">
                <a:hlinkClick r:id="rId5"/>
              </a:rPr>
              <a:t>https://myfirewatch.landgate.wa.gov.au/</a:t>
            </a:r>
            <a:endParaRPr lang="zh-CN" altLang="zh-CN" dirty="0"/>
          </a:p>
          <a:p>
            <a:pPr lvl="0"/>
            <a:r>
              <a:rPr lang="en-AU" altLang="zh-CN" u="sng" dirty="0">
                <a:hlinkClick r:id="rId6"/>
              </a:rPr>
              <a:t>https://catalogue.data.wa.gov.au/dataset/?tags=vegetation</a:t>
            </a:r>
            <a:endParaRPr lang="zh-CN" altLang="zh-CN" dirty="0"/>
          </a:p>
          <a:p>
            <a:pPr lvl="0"/>
            <a:r>
              <a:rPr lang="en-AU" altLang="zh-CN" u="sng" dirty="0">
                <a:hlinkClick r:id="rId7"/>
              </a:rPr>
              <a:t>https://www.wa.gov.au/service/science/biological-sciences/access-interactive-maps-showing-western-australias-biodiversity</a:t>
            </a:r>
            <a:endParaRPr lang="zh-CN" altLang="zh-CN" dirty="0"/>
          </a:p>
          <a:p>
            <a:pPr lvl="0"/>
            <a:r>
              <a:rPr lang="en-AU" altLang="zh-CN" dirty="0"/>
              <a:t>Cruz, Miguel G., James S. Gould, Martin E. Alexander, Andrew L. Sullivan, W. Lachlan McCaw, and Stuart Matthews. 2015. “Empirical-Based Models for Predicting Head-Fire Rate of Spread in Australian Fuel Types.” Australian Forestry, 1,41.</a:t>
            </a:r>
            <a:endParaRPr lang="zh-CN" altLang="zh-CN" dirty="0"/>
          </a:p>
          <a:p>
            <a:pPr lvl="0"/>
            <a:r>
              <a:rPr lang="en-AU" altLang="zh-CN" dirty="0"/>
              <a:t>Kim, Dong-Wook, Woodam Chung, and </a:t>
            </a:r>
            <a:r>
              <a:rPr lang="en-AU" altLang="zh-CN" dirty="0" err="1"/>
              <a:t>Byungdoo</a:t>
            </a:r>
            <a:r>
              <a:rPr lang="en-AU" altLang="zh-CN" dirty="0"/>
              <a:t> Lee. 2016. “Exploring Tree Crown Spacing and Slope Interaction Effects on Fire </a:t>
            </a:r>
            <a:r>
              <a:rPr lang="en-AU" altLang="zh-CN" dirty="0" err="1"/>
              <a:t>Behavior</a:t>
            </a:r>
            <a:r>
              <a:rPr lang="en-AU" altLang="zh-CN" dirty="0"/>
              <a:t> with a Physics-Based Fire Model.” Forest Science and Technology 12 (4): 167-175 %U http://dx.doi.org/10.1080/21580103.2016.1144541.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46901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1072</Words>
  <Application>Microsoft Office PowerPoint</Application>
  <PresentationFormat>宽屏</PresentationFormat>
  <Paragraphs>129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Cloud Wang (24408996)</dc:creator>
  <cp:lastModifiedBy>Cloud Wang (24408996)</cp:lastModifiedBy>
  <cp:revision>96</cp:revision>
  <dcterms:created xsi:type="dcterms:W3CDTF">2026-03-11T01:47:16Z</dcterms:created>
  <dcterms:modified xsi:type="dcterms:W3CDTF">2026-03-14T14:23:45Z</dcterms:modified>
</cp:coreProperties>
</file>